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6D3F9-81EA-44FF-AFB0-CCF9D7F45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78" y="0"/>
            <a:ext cx="6870787" cy="147536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0D61E2E-B904-4F3D-8E88-7EAAFA91951C}"/>
              </a:ext>
            </a:extLst>
          </p:cNvPr>
          <p:cNvSpPr txBox="1"/>
          <p:nvPr/>
        </p:nvSpPr>
        <p:spPr>
          <a:xfrm>
            <a:off x="216851" y="163073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9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INTERNAL REVIEW  | Machine Learning</a:t>
            </a:r>
            <a:r>
              <a:rPr lang="en-US" b="1" dirty="0"/>
              <a:t> &amp; Ai </a:t>
            </a:r>
            <a:r>
              <a:rPr lang="en-US" sz="1900" b="1" dirty="0">
                <a:latin typeface="Georgia" pitchFamily="34" charset="0"/>
              </a:rPr>
              <a:t>internship</a:t>
            </a:r>
            <a:endParaRPr lang="en-US" sz="19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A9CB13A-D38B-4164-B0D3-08B94005D2C2}"/>
              </a:ext>
            </a:extLst>
          </p:cNvPr>
          <p:cNvSpPr txBox="1"/>
          <p:nvPr/>
        </p:nvSpPr>
        <p:spPr>
          <a:xfrm>
            <a:off x="114808" y="2131677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Skill Nexis   |   Project: Heart Disease Prediction</a:t>
            </a:r>
            <a:endParaRPr lang="en-US" sz="15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DFDD80F-D3BB-40DF-93A6-1CCDF78B2C89}"/>
              </a:ext>
            </a:extLst>
          </p:cNvPr>
          <p:cNvSpPr txBox="1"/>
          <p:nvPr/>
        </p:nvSpPr>
        <p:spPr>
          <a:xfrm>
            <a:off x="-232633" y="2550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5787D8-3661-4CD7-AACF-92585E02803A}"/>
              </a:ext>
            </a:extLst>
          </p:cNvPr>
          <p:cNvSpPr/>
          <p:nvPr/>
        </p:nvSpPr>
        <p:spPr>
          <a:xfrm>
            <a:off x="2313578" y="2782669"/>
            <a:ext cx="71494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predict whether a patient is likely to have heart disease from clinical measurements.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6BA5CF6-2E7E-45FF-999A-96EBB6DBEC8E}"/>
              </a:ext>
            </a:extLst>
          </p:cNvPr>
          <p:cNvSpPr/>
          <p:nvPr/>
        </p:nvSpPr>
        <p:spPr>
          <a:xfrm>
            <a:off x="548640" y="4023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4233B"/>
          </a:solidFill>
          <a:ln w="9525">
            <a:solidFill>
              <a:srgbClr val="2A4064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50834CA-134E-4D95-8DFC-289072D921EE}"/>
              </a:ext>
            </a:extLst>
          </p:cNvPr>
          <p:cNvSpPr txBox="1"/>
          <p:nvPr/>
        </p:nvSpPr>
        <p:spPr>
          <a:xfrm>
            <a:off x="73152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74961DA-8188-4A38-9996-F38BAF406D59}"/>
              </a:ext>
            </a:extLst>
          </p:cNvPr>
          <p:cNvSpPr txBox="1"/>
          <p:nvPr/>
        </p:nvSpPr>
        <p:spPr>
          <a:xfrm>
            <a:off x="731520" y="4480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Ayush Shetty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24311A66L5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- AI &amp; ML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8BFD49E-42CA-42EC-BEB9-DC4EEEADA932}"/>
              </a:ext>
            </a:extLst>
          </p:cNvPr>
          <p:cNvSpPr/>
          <p:nvPr/>
        </p:nvSpPr>
        <p:spPr>
          <a:xfrm>
            <a:off x="3346704" y="4023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4233B"/>
          </a:solidFill>
          <a:ln w="9525">
            <a:solidFill>
              <a:srgbClr val="2A4064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A0385F9-4C2E-46ED-A9DB-29E80650C617}"/>
              </a:ext>
            </a:extLst>
          </p:cNvPr>
          <p:cNvSpPr txBox="1"/>
          <p:nvPr/>
        </p:nvSpPr>
        <p:spPr>
          <a:xfrm>
            <a:off x="3529584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7F9DD8A-1AFE-4A9C-B710-A5F4344FC629}"/>
              </a:ext>
            </a:extLst>
          </p:cNvPr>
          <p:cNvSpPr txBox="1"/>
          <p:nvPr/>
        </p:nvSpPr>
        <p:spPr>
          <a:xfrm>
            <a:off x="3529584" y="4480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Skill Nexis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</a:t>
            </a:r>
            <a:endParaRPr lang="en-US" sz="1350" dirty="0">
              <a:solidFill>
                <a:schemeClr val="bg1"/>
              </a:solidFill>
            </a:endParaRPr>
          </a:p>
          <a:p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r>
              <a:rPr lang="en-US" sz="1400" b="1" dirty="0">
                <a:solidFill>
                  <a:schemeClr val="bg1"/>
                </a:solidFill>
              </a:rPr>
              <a:t> &amp; Ai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6E7FC14-F8CA-4BB8-9DC5-60481A82A7FF}"/>
              </a:ext>
            </a:extLst>
          </p:cNvPr>
          <p:cNvSpPr/>
          <p:nvPr/>
        </p:nvSpPr>
        <p:spPr>
          <a:xfrm>
            <a:off x="6144768" y="4023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4233B"/>
          </a:solidFill>
          <a:ln w="9525">
            <a:solidFill>
              <a:srgbClr val="2A4064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86C35351-B96D-43DC-A9FF-FD96D9D7C752}"/>
              </a:ext>
            </a:extLst>
          </p:cNvPr>
          <p:cNvSpPr txBox="1"/>
          <p:nvPr/>
        </p:nvSpPr>
        <p:spPr>
          <a:xfrm>
            <a:off x="6327648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765F8B0-D6F5-427C-9573-C43DA0B54FC3}"/>
              </a:ext>
            </a:extLst>
          </p:cNvPr>
          <p:cNvSpPr txBox="1"/>
          <p:nvPr/>
        </p:nvSpPr>
        <p:spPr>
          <a:xfrm>
            <a:off x="6327648" y="4480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Sep 2026 – 17 Oct 2026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&amp; 3 Days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program, 4 tasks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DF72A3BD-CF57-44ED-A80B-B89F9683FCF3}"/>
              </a:ext>
            </a:extLst>
          </p:cNvPr>
          <p:cNvSpPr/>
          <p:nvPr/>
        </p:nvSpPr>
        <p:spPr>
          <a:xfrm>
            <a:off x="8942832" y="40233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4233B"/>
          </a:solidFill>
          <a:ln w="9525">
            <a:solidFill>
              <a:srgbClr val="2A4064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94AAC74-4B2E-40CC-AA4C-FA75AB5402FF}"/>
              </a:ext>
            </a:extLst>
          </p:cNvPr>
          <p:cNvSpPr txBox="1"/>
          <p:nvPr/>
        </p:nvSpPr>
        <p:spPr>
          <a:xfrm>
            <a:off x="9125712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98965221-71D6-4CF3-89A3-6B858CA8243E}"/>
              </a:ext>
            </a:extLst>
          </p:cNvPr>
          <p:cNvSpPr txBox="1"/>
          <p:nvPr/>
        </p:nvSpPr>
        <p:spPr>
          <a:xfrm>
            <a:off x="9125712" y="4480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Coordinator: K. DivyaSri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HoD, CSE-AI&amp;ML: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Venkatanarayana Rao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C8A0B87-A330-43B2-AB16-8EE2B6988558}"/>
              </a:ext>
            </a:extLst>
          </p:cNvPr>
          <p:cNvSpPr txBox="1"/>
          <p:nvPr/>
        </p:nvSpPr>
        <p:spPr>
          <a:xfrm>
            <a:off x="35619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Sreenidhi Institute of Science and Technology (Autonomous)  |  Department of CSE-AI&amp;ML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5141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800" b="1">
                <a:solidFill>
                  <a:srgbClr val="1F2A44"/>
                </a:solidFill>
              </a:defRPr>
            </a:pPr>
            <a:r>
              <a:t>Heart Disease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55555"/>
                </a:solidFill>
              </a:defRPr>
            </a:pPr>
            <a:r>
              <a:rPr dirty="0"/>
              <a:t>Machine Learning &amp; </a:t>
            </a:r>
            <a:r>
              <a:t>AI -</a:t>
            </a:r>
            <a:r>
              <a:rPr lang="en-US"/>
              <a:t> </a:t>
            </a:r>
            <a:r>
              <a:t>Project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55555"/>
                </a:solidFill>
              </a:defRPr>
            </a:pPr>
            <a:r>
              <a:t>Binary classification with Logistic Regression and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D1495B"/>
                </a:solidFill>
              </a:defRPr>
            </a:pPr>
            <a:r>
              <a:rPr dirty="0"/>
              <a:t>Presented by: </a:t>
            </a:r>
            <a:r>
              <a:rPr lang="en-US" dirty="0"/>
              <a:t>Ayush Shetty</a:t>
            </a:r>
            <a:r>
              <a:rPr dirty="0"/>
              <a:t>  |  Roll No: </a:t>
            </a:r>
            <a:r>
              <a:rPr lang="en-US" dirty="0"/>
              <a:t>24311A66L5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A44"/>
                </a:solidFill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" cy="6400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949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55555"/>
                </a:solidFill>
              </a:defRPr>
            </a:pPr>
            <a:r>
              <a:t>Heart disease is a leading cause of death, and early screening depends on reading many clinical measurements together. This project builds a machine-learning pipeline that predicts whether a patient has heart disease from 13 clinical features of the UCI Heart Disease dataset (918 patients after cleaning).</a:t>
            </a:r>
          </a:p>
          <a:p>
            <a:pPr>
              <a:spcAft>
                <a:spcPts val="800"/>
              </a:spcAft>
              <a:defRPr sz="1700" b="0">
                <a:solidFill>
                  <a:srgbClr val="555555"/>
                </a:solidFill>
              </a:defRPr>
            </a:pPr>
            <a:r>
              <a:t>Missing values are imputed, numeric features are scaled and categorical features are one-hot encoded inside one scikit-learn Pipeline. Logistic Regression and a Decision Tree are tuned with 5-fold cross-validation and GridSearchCV, then tested on a held-out 20% set.</a:t>
            </a:r>
          </a:p>
          <a:p>
            <a:pPr>
              <a:spcAft>
                <a:spcPts val="800"/>
              </a:spcAft>
              <a:defRPr sz="1700" b="0">
                <a:solidFill>
                  <a:srgbClr val="555555"/>
                </a:solidFill>
              </a:defRPr>
            </a:pPr>
            <a:r>
              <a:t>The Decision Tree gave the best ROC AUC (0.918, accuracy 84.8%); Logistic Regression was close behind (0.915) with higher recall (88.2%). The model is saved with joblib and predicts on new patients.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D1495B"/>
                </a:solidFill>
              </a:defRPr>
            </a:pPr>
            <a:r>
              <a:t>918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555"/>
                </a:solidFill>
              </a:defRPr>
            </a:pPr>
            <a:r>
              <a:t>patients after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200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D1495B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555"/>
                </a:solidFill>
              </a:defRPr>
            </a:pPr>
            <a:r>
              <a:t>clinical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754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D1495B"/>
                </a:solidFill>
              </a:defRPr>
            </a:pPr>
            <a:r>
              <a:t>0.918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555"/>
                </a:solidFill>
              </a:defRPr>
            </a:pPr>
            <a:r>
              <a:t>best ROC AUC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A44"/>
                </a:solidFill>
              </a:defRPr>
            </a:pPr>
            <a:r>
              <a:t>Problem &amp;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" cy="6400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55555"/>
                </a:solidFill>
              </a:defRPr>
            </a:pPr>
            <a:r>
              <a:rPr dirty="0"/>
              <a:t>Goal: predict whether a patient is likely to have heart disease from clinical measurements.</a:t>
            </a:r>
          </a:p>
          <a:p>
            <a:pPr>
              <a:spcAft>
                <a:spcPts val="800"/>
              </a:spcAft>
              <a:defRPr sz="2000" b="0">
                <a:solidFill>
                  <a:srgbClr val="555555"/>
                </a:solidFill>
              </a:defRPr>
            </a:pPr>
            <a:r>
              <a:rPr dirty="0"/>
              <a:t>Dataset: Kaggle - Heart Disease UCI.</a:t>
            </a:r>
          </a:p>
          <a:p>
            <a:pPr>
              <a:spcAft>
                <a:spcPts val="800"/>
              </a:spcAft>
              <a:defRPr sz="2000" b="0">
                <a:solidFill>
                  <a:srgbClr val="555555"/>
                </a:solidFill>
              </a:defRPr>
            </a:pPr>
            <a:r>
              <a:rPr dirty="0"/>
              <a:t>918 patients after cleaning (920 raw rows, 2 duplicates removed).</a:t>
            </a:r>
          </a:p>
          <a:p>
            <a:pPr>
              <a:spcAft>
                <a:spcPts val="800"/>
              </a:spcAft>
              <a:defRPr sz="2000" b="0">
                <a:solidFill>
                  <a:srgbClr val="555555"/>
                </a:solidFill>
              </a:defRPr>
            </a:pPr>
            <a:r>
              <a:rPr dirty="0"/>
              <a:t>6 numeric and 7 categorical features.</a:t>
            </a:r>
          </a:p>
          <a:p>
            <a:pPr>
              <a:spcAft>
                <a:spcPts val="800"/>
              </a:spcAft>
              <a:defRPr sz="2000" b="0">
                <a:solidFill>
                  <a:srgbClr val="555555"/>
                </a:solidFill>
              </a:defRPr>
            </a:pPr>
            <a:r>
              <a:rPr dirty="0"/>
              <a:t>Target: 0 = no disease, 1 = disease.</a:t>
            </a:r>
          </a:p>
        </p:txBody>
      </p:sp>
      <p:pic>
        <p:nvPicPr>
          <p:cNvPr id="5" name="Picture 4" descr="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754880" cy="3698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A44"/>
                </a:solidFill>
              </a:defRPr>
            </a:pPr>
            <a:r>
              <a:t>Data Cleaning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" cy="6400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Target converted to binary (any disease grade &gt; 0 becomes 1).</a:t>
            </a:r>
          </a:p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Identifier columns and duplicate rows removed.</a:t>
            </a:r>
          </a:p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Missing values: trestbps (59), chol (29), fbs (90), restecg (2), thalch (55), exang (55), oldpeak (62), slope (307), ca (609), thal (484)</a:t>
            </a:r>
          </a:p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Numeric features: median imputation, then StandardScaler.</a:t>
            </a:r>
          </a:p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Categorical features: most-frequent imputation, then one-hot encoding.</a:t>
            </a:r>
          </a:p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Everything sits inside one scikit-learn Pipeline, so no test data leaks into training.</a:t>
            </a:r>
          </a:p>
        </p:txBody>
      </p:sp>
      <p:pic>
        <p:nvPicPr>
          <p:cNvPr id="5" name="Picture 4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484632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A44"/>
                </a:solidFill>
              </a:defRPr>
            </a:pPr>
            <a:r>
              <a:t>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" cy="6400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Stratified 80/20 train-test split (random_state = 42).</a:t>
            </a:r>
          </a:p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Models: Logistic Regression and Decision Tree.</a:t>
            </a:r>
          </a:p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5-fold stratified cross-validation for baseline accuracy.</a:t>
            </a:r>
          </a:p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GridSearchCV tuning (scored on ROC AUC): regularisation C for Logistic Regression; depth, leaf size and criterion for the tree.</a:t>
            </a:r>
          </a:p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Final metrics computed once on the held-out test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A44"/>
                </a:solidFill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" cy="6400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CV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ROC 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0.915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0.918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31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A44"/>
                </a:solidFill>
              </a:defRPr>
            </a:pPr>
            <a:r>
              <a:t>Selected model: Decision Tree (highest ROC AUC, with F1 as tie-breaker).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A44"/>
                </a:solidFill>
              </a:defRPr>
            </a:pPr>
            <a:r>
              <a:t>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" cy="6400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fusion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120640" cy="4332849"/>
          </a:xfrm>
          <a:prstGeom prst="rect">
            <a:avLst/>
          </a:prstGeom>
        </p:spPr>
      </p:pic>
      <p:pic>
        <p:nvPicPr>
          <p:cNvPr id="5" name="Picture 4" descr="confusion_deci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120640" cy="43328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A44"/>
                </a:solidFill>
              </a:defRPr>
            </a:pPr>
            <a:r>
              <a:t>ROC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" cy="6400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669280" cy="46385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55555"/>
                </a:solidFill>
              </a:defRPr>
            </a:pPr>
            <a:r>
              <a:t>Logistic Regression: AUC = 0.915</a:t>
            </a:r>
          </a:p>
          <a:p>
            <a:pPr>
              <a:spcAft>
                <a:spcPts val="800"/>
              </a:spcAft>
              <a:defRPr sz="2000" b="0">
                <a:solidFill>
                  <a:srgbClr val="555555"/>
                </a:solidFill>
              </a:defRPr>
            </a:pPr>
            <a:r>
              <a:t>Decision Tree: AUC = 0.918</a:t>
            </a:r>
          </a:p>
          <a:p>
            <a:pPr>
              <a:spcAft>
                <a:spcPts val="800"/>
              </a:spcAft>
              <a:defRPr sz="2000" b="0">
                <a:solidFill>
                  <a:srgbClr val="555555"/>
                </a:solidFill>
              </a:defRPr>
            </a:pPr>
            <a:r>
              <a:t>A curve closer to the top-left corner means better separation between sick and healthy patients.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A44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0" cy="6400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Decision Tree performed best: ROC AUC 0.918, accuracy 84.8%, recall 83.3%, precision 88.5%.</a:t>
            </a:r>
          </a:p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On 184 unseen patients it caught 85 of 102 true disease cases and missed 17.</a:t>
            </a:r>
          </a:p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The model is saved with joblib (models/heart_model.joblib) and can predict on new patients.</a:t>
            </a:r>
          </a:p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Limitations: small dataset, single train-test split; this is a learning project, not a diagnostic tool.</a:t>
            </a:r>
          </a:p>
          <a:p>
            <a:pPr>
              <a:spcAft>
                <a:spcPts val="800"/>
              </a:spcAft>
              <a:defRPr sz="2100" b="0">
                <a:solidFill>
                  <a:srgbClr val="555555"/>
                </a:solidFill>
              </a:defRPr>
            </a:pPr>
            <a:r>
              <a:t>Next steps: try Random Forest, add calibration, test on external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666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Ayush</dc:creator>
  <cp:keywords/>
  <dc:description>generated using python-pptx</dc:description>
  <cp:lastModifiedBy>Ayush</cp:lastModifiedBy>
  <cp:revision>8</cp:revision>
  <dcterms:created xsi:type="dcterms:W3CDTF">2013-01-27T09:14:16Z</dcterms:created>
  <dcterms:modified xsi:type="dcterms:W3CDTF">2026-10-04T11:29:33Z</dcterms:modified>
  <cp:category/>
</cp:coreProperties>
</file>